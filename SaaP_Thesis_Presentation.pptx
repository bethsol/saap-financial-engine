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4195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47472"/>
            <a:ext cx="3200400" cy="29260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47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Romania American University  ·  MSc Computer Science for Business Management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Architecting a Global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</a:rPr>
              <a:t>SaaP Framework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Scaling Financial Intelligence for SMEs through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BDD"/>
                </a:solidFill>
              </a:rPr>
              <a:t>Automated Data Normalisation and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715768"/>
            <a:ext cx="57607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072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Master's Thesis  ·  Author: Bethel Hailemichael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</a:rPr>
              <a:t>Advisor: Professor Baraca Claudiu Dan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35584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DD"/>
                </a:solidFill>
              </a:rPr>
              <a:t>June 2026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502920"/>
            <a:ext cx="228600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5029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Management Gap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042416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0424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Service-as-a-Product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1581912"/>
            <a:ext cx="228600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581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Design Science Research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121408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1214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Agnostic Ingestion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2660904"/>
            <a:ext cx="228600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6609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Grounded LLM Synthesis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3200400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2004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450× Efficiency Gain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3739896"/>
            <a:ext cx="228600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7398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Zero Hallucination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4279392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2793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3 Jurisdictions Unified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" y="466344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6699"/>
                </a:solidFill>
              </a:rPr>
              <a:t>Keywords: SaaP · ETL · Schema Matching · LLM · Hallucination Mitigation · DSR · SME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Thesis Overview — Seven Chapters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A structured argument from problem identification through artefact construction to empirical validation.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9264" y="131673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Introduction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16002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Management Gap · Research Objectives · Research Questions · SaaP Frame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2167128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167128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216712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9264" y="222199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Literature Review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" y="2505456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KBS evolution · Fine-tuning vs ICL · Hallucination mitigation · Productised Expertise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72384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072384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3072384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9264" y="312724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Methodology &amp; Architecture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9264" y="3410712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Design Science Research · Three-Tier Architecture · UFL · Data Flow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977640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977640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3977640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264" y="40325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Technical Implementation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9264" y="4315968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Ingestion · Normalisation · Metrics · Synthesis · Dashboard · Testing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1261872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1261872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1261872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9824" y="131673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Results &amp; Validation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49824" y="1600200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 empirical results — 100% column detection · 100% retention · 450× gain · 0/100 hallucinations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2167128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167128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2167128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9824" y="222199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Discussion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49824" y="2505456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Theoretical + Practical Contribution · Limitations · Ethics · SaaP Business Model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3072384"/>
            <a:ext cx="4206240" cy="74980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3072384"/>
            <a:ext cx="65836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3072384"/>
            <a:ext cx="658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Ch.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9824" y="312724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Conclusion &amp; Future Work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9824" y="3410712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Synthesis of findings · 4 research directions · Final reflection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This presentation follows the thesis chapter order — each section builds the argument for the next.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Background: The Digital Asymmetry Facing SMEs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SMEs dominate employment — yet are the last to receive the strategic tools they need to grow.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788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325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</a:rPr>
              <a:t>99%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all OECD businesses are SMEs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52374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European Commission, World Bank, US SBA (2018–2024)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63824" y="1261872"/>
            <a:ext cx="2788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55264" y="1325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</a:rPr>
              <a:t>50–70%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55264" y="202996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private-sector employment in most member states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5264" y="252374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OECD (2023), Annual Report on European SMEs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71616" y="1261872"/>
            <a:ext cx="2788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325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63056" y="202996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enterprise-grade strategic intelligence tools available at SME price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3056" y="252374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Thesis §1.1 — the gap this thesis bridges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6032" y="2816352"/>
            <a:ext cx="8631936" cy="175564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" y="2816352"/>
            <a:ext cx="128016" cy="17556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862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The Digital Asymmetry (Thesis §1.1)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145536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Transactional tools (invoicing, payroll, basic accounting) → fully commoditised, affordable for a 5-person firm.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Strategic tools (CFO advisory, corporate finance, Big Four analysis) → trapped behind a human wall at €100–400/hour.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803904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This thesis takes the position that this asymmetry is an engineering opportunity — not a permanent feature of the world.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Recent convergence of two domains — schema-on-read ETL pipelines + Large Language Models — can remove the human bottleneck.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Statement: The Management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SMEs generate the data required to grow — but lack continuous access to the expertise required to interpret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88920" cy="32461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98448"/>
            <a:ext cx="2788920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316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BARRIER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5727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Expert Advice is Priced Out of Reach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CFO expertise, Big Four advisory, and corporate finance directors are available exclusively through one-to-one service delivery at hourly rates that price all but the most successful SMEs out of the market.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4370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Thesis §1.1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63824" y="1298448"/>
            <a:ext cx="2788920" cy="32461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298448"/>
            <a:ext cx="27889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236976" y="1316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BARRIER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36976" y="15727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ERP is Cost-Prohibitive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55264" y="192024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Legacy platforms that DO provide strategic intelligence — SAP, Oracle NetSuite — are cost-prohibitive for businesses below a multi-million-euro revenue threshold. Built for corporations, not for a five-person company.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4370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Thesis Abstract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71616" y="1298448"/>
            <a:ext cx="2788920" cy="32461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298448"/>
            <a:ext cx="27889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1316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BARRIER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5727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Affordable Tools Produce 'Dumb Data'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63056" y="192024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Generic tools — QuickBooks, Xero, SAGA, DATEV — terminate at data storage and rudimentary reporting. They never cross the threshold into strategic recommendation. A P&amp;L is necessary but not sufficient for action.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437083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Thesis §1.2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4626864"/>
            <a:ext cx="8631936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462686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→  Any system that purports to deliver financial intelligence as a product must solve all three problems simultaneously.  (Thesis §1.2)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Objectives (§1.3)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Five objectives, in decreasing order of generality — each maps to a specific chapter of the thesis.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8631936" cy="65836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6187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O1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316736"/>
            <a:ext cx="705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Architect and implement a three-tier SaaP framework (Agnostic Ingestion → Logic &amp; Synthesis → Presentation) capable of accepting heterogeneous SME financial data and producing strategic management output without human intervention.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955280" y="1261872"/>
            <a:ext cx="932688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261872"/>
            <a:ext cx="9326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Chapters 3 &amp; 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993392"/>
            <a:ext cx="8631936" cy="65836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99339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9933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O2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048256"/>
            <a:ext cx="705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Demonstrate that schema-on-read fuzzy matching against a multilingual synonym dictionary correctly identifies structural columns of SME financial exports across at least three distinct national accounting traditions.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1993392"/>
            <a:ext cx="932688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993392"/>
            <a:ext cx="9326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Chapter 5 — Result R1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6032" y="2724912"/>
            <a:ext cx="8631936" cy="65836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" y="272491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27249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O3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79776"/>
            <a:ext cx="705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Demonstrate that architectural separation of deterministic numeric computation from semantic interpretation eliminates LLM numeric hallucination, and validate this through unit testing of the synthesis payload contract.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55280" y="2724912"/>
            <a:ext cx="932688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724912"/>
            <a:ext cx="9326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Chapter 5 — Result R6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8631936" cy="65836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345643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3456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O4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511296"/>
            <a:ext cx="705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Quantify the efficiency gain of the SaaP framework relative to a human consultant performing the equivalent diagnostic task, using a defensible time-to-insight metric, and discuss implications for advisory unit economics.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3456432"/>
            <a:ext cx="932688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456432"/>
            <a:ext cx="9326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Chapter 5 — Result R4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4187952"/>
            <a:ext cx="8631936" cy="65836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" y="418795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" y="41879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O5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" y="4242816"/>
            <a:ext cx="705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Position the framework within DSR, productised expertise, and grounded LLM integration literature, and identify the precise theoretical contribution to each body of work.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5280" y="4187952"/>
            <a:ext cx="932688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4187952"/>
            <a:ext cx="9326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Chapter 6 — §6.1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Questions (§1.4)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Two questions — one technical, one managerial — that together define the thesis contribution.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80160"/>
            <a:ext cx="8631936" cy="157276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80160"/>
            <a:ext cx="594360" cy="1572768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80160"/>
            <a:ext cx="594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33502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EC4"/>
                </a:solidFill>
              </a:rPr>
              <a:t>Technical: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591056"/>
            <a:ext cx="78181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How can an agnostic data pipeline be architected so as to normalise fragmented financial data from diverse international sources into a universal schema, and what mechanisms are required to guarantee that downstream language-model interpretation of that schema does not introduce factual errors?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3017520"/>
            <a:ext cx="8631936" cy="1572768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017520"/>
            <a:ext cx="594360" cy="1572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3017520"/>
            <a:ext cx="594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307238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Managerial: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3328416"/>
            <a:ext cx="78181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 what extent does the productisation of management expertise through software reduce the cost and time required to deliver high-value strategic reports compared to traditional consulting engagements, and what business-model implications follow from any such reduction?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645152"/>
            <a:ext cx="8631936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464515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Answered in Chapter 5:  RQ1 → 100% column detection, zero numeric hallucination (0/100 runs)  |  RQ2 → 450× efficiency gain vs human consultant baseline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a SaaP Frame? Distinguishing the Model (§1.5–1.6)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SaaP model sells the interpreted result — something neither consulting nor SaaS achieves.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9202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" y="12618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Dimension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261872"/>
            <a:ext cx="1920240" cy="38404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2157984" y="12618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Traditional Consulting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261872"/>
            <a:ext cx="2148840" cy="38404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4078224" y="126187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Pure SaaS (QuickBooks etc.)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261872"/>
            <a:ext cx="28803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1261872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Service-as-a-Product ← this thesis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1645920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645920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4592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What is sold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645920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164592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Human expert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0" y="1645920"/>
            <a:ext cx="21488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645920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Tool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645920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645920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The interpreted result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167128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" y="2167128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167128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Marginal cost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03120" y="2167128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0" y="2167128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Hourly labour (€100–400/hr)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23360" y="2167128"/>
            <a:ext cx="2148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2167128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Low fixed subscription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167128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167128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Cost of one API call (cents)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2688336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" y="2688336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688336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Scalability ceiling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03120" y="2688336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6" name="Text 34"/>
          <p:cNvSpPr/>
          <p:nvPr/>
        </p:nvSpPr>
        <p:spPr>
          <a:xfrm>
            <a:off x="2194560" y="2688336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Head-count of the firm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0" y="2688336"/>
            <a:ext cx="21488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2688336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Server capacity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2688336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2688336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Effectively unbounded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3209544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" y="3209544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3209544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Personalisation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103120" y="3209544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194560" y="3209544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 — per engagement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23360" y="3209544"/>
            <a:ext cx="2148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0" y="3209544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Low — generic UX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3209544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3209544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High — per data payload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" y="3730752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51" name="Shape 49"/>
          <p:cNvSpPr/>
          <p:nvPr/>
        </p:nvSpPr>
        <p:spPr>
          <a:xfrm>
            <a:off x="182880" y="3730752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373075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Knowledge embedded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103120" y="3730752"/>
            <a:ext cx="19202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54" name="Text 52"/>
          <p:cNvSpPr/>
          <p:nvPr/>
        </p:nvSpPr>
        <p:spPr>
          <a:xfrm>
            <a:off x="2194560" y="373075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Individual expert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023360" y="3730752"/>
            <a:ext cx="2148840" cy="512064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0" y="3730752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Documentation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72200" y="3730752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8" name="Text 56"/>
          <p:cNvSpPr/>
          <p:nvPr/>
        </p:nvSpPr>
        <p:spPr>
          <a:xfrm>
            <a:off x="6263640" y="3730752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Pipeline + prompts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4251960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182880" y="4251960"/>
            <a:ext cx="54864" cy="5120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25196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Failure mode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03120" y="4251960"/>
            <a:ext cx="1920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194560" y="425196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Expert quits or sleeps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023360" y="4251960"/>
            <a:ext cx="2148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0" y="4251960"/>
            <a:ext cx="2039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User must still interpret data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72200" y="4251960"/>
            <a:ext cx="2880360" cy="51206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7" name="Text 65"/>
          <p:cNvSpPr/>
          <p:nvPr/>
        </p:nvSpPr>
        <p:spPr>
          <a:xfrm>
            <a:off x="6263640" y="4251960"/>
            <a:ext cx="2770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Bounded by data quality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'The product is not the engine; the product is the report the engine produces.'  — Thesis §1.5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Review: From Expert Systems to LLMs (§2.1–2.2)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60 years of knowledge externalisation — and why in-context learning is the right tool for this problem.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011680" cy="19202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2011680" cy="420624"/>
          </a:xfrm>
          <a:prstGeom prst="rect">
            <a:avLst/>
          </a:prstGeom>
          <a:solidFill>
            <a:srgbClr val="3A5EA8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271016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1960s–70s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0896" y="14447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Rule-Based Expert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Feigenbaum · DENDRAL · MYCIN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Hand-engineered IF→THEN rules.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MYCIN matched junior physicians on bacterial infection diagnosis.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261872"/>
            <a:ext cx="2011680" cy="19202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261872"/>
            <a:ext cx="2011680" cy="420624"/>
          </a:xfrm>
          <a:prstGeom prst="rect">
            <a:avLst/>
          </a:prstGeom>
          <a:solidFill>
            <a:srgbClr val="5B6CAB"/>
          </a:solidFill>
          <a:ln/>
        </p:spPr>
      </p:sp>
      <p:sp>
        <p:nvSpPr>
          <p:cNvPr id="13" name="Text 11"/>
          <p:cNvSpPr/>
          <p:nvPr/>
        </p:nvSpPr>
        <p:spPr>
          <a:xfrm>
            <a:off x="2478024" y="1271016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1980s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78024" y="14447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Commercial Wave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78024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DEC, AmEx, Schlumberger.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Orders-of-magnitude productivity gains.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Collapsed under: knowledge elicitation cost, brittle rules, no learning.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0288" y="1261872"/>
            <a:ext cx="2011680" cy="19202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1261872"/>
            <a:ext cx="2011680" cy="420624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1271016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2020–2024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45152" y="14447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Large Language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GPT-3 → GPT-4o, Claude, Gemini.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First artefacts that handle free-form input + contextual output.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Reopens the question of productised expertise.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57416" y="1261872"/>
            <a:ext cx="2011680" cy="19202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1261872"/>
            <a:ext cx="201168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271016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This thesis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12280" y="14447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Grounded Hybrid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Deterministic Python + constrained LLM.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Not rule-based (brittle) nor unconstrained (unreliable).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Architecturally disciplined hybrid.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291840"/>
            <a:ext cx="8631936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328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</a:rPr>
              <a:t>Fine-Tuning vs. In-Context Learning (ICL) — Thesis Decision (§2.2)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Fine-Tuning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38953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✗  Strong in narrow, repetitive domains (clause tagging, ticket classification)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07822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✗  Requires large labelled datasets — unavailable to SME startups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26110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✗  Model drifts with each upstream release → maintenance burden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44398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✗  Locks capability to one provider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In-Context Learning (chosen)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8953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Frontier models perform new tasks from instructions alone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407822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Cognitive operation here is general BM knowledge, not templates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426110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Per-client cost = cost of one API call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444398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Model upgrades are free — swap GPT-4o for Claude with no architecture change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Review: Hallucination, Productisation &amp; Schema-on-Read (§2.3–2.6)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thesis sits at the intersection of four literature streams — and contributes to all four.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24528" cy="168249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4224528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98448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Hallucination Mitigation (§2.3)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Ji et al. (2023): intrinsic vs extrinsic hallucination — both catastrophic in finance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92938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Known mitigations: RAG, chain-of-thought, constitutional AI — none directly address fabricated numbers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This thesis: forbid the LLM from generating numbers — deterministic layer handles all computation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56946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R6 result: 0/100 numeric hallucinations — architectural claim empirically validated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0872" y="1261872"/>
            <a:ext cx="4224528" cy="168249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261872"/>
            <a:ext cx="422452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1298448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Productised Expertise (§2.4)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160934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Levitt (1972): service uniqueness is artefact of delivery, not of the underlying problem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82312" y="192938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Vargo &amp; Lusch (2004): service-dominant logic — value co-creation continuum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82312" y="224942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SaaP sits at the productised end: customer uploads data, engine produces the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82312" y="2569464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Technical enabler in 2026: scalable inference — one LLM deployment, arbitrary clients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17520"/>
            <a:ext cx="4224528" cy="168249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17520"/>
            <a:ext cx="422452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054096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Schema-on-Read &amp; UDL (§2.5)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36499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Kimball &amp; Ross: schema-on-write dominated enterprise analytics 1990s–2000s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68503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Cloud data lakes shifted toward schema-on-read (Parquet/ORC formats)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400507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This thesis: aggressive schema-on-read — columns matched at parse time against synonym dict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32511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rapidfuzz token-set-ratio: sweet spot between exact-match (brittle) and NLI classifier (expensive)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90872" y="3017520"/>
            <a:ext cx="4224528" cy="168249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3017520"/>
            <a:ext cx="4224528" cy="292608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3054096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Positioning: Intersection of All Four (§2.6)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82312" y="336499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From KBS tradition: ambition — externalise expert judgement into artefact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82312" y="368503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From ICL literature: mechanism — frozen frontier model steered by structured prompts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82312" y="400507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From hallucination literature: discipline — strict separation of computation from synthesis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82312" y="4325112"/>
            <a:ext cx="4041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 From productisation: business frame — the deliverable is the report, not the engine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Methodology: Design Science Research (§3.1)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contribution is an artefact that solves a real problem — not a theory to be tested.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8631936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61872"/>
            <a:ext cx="109728" cy="548640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Design Science Research (Hevner, March, Park &amp; Ram, MIS Quarterly 2004) produces innovative artefacts that solve identified organisational problems — not behavioural theories about human phenomena.  |  The Artefact: Financial Intelligence Engine prototype (Chapters 3–4, Appendix B)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8631936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90195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Hevner et al.'s 7 DSR Guidelines — how this thesis satisfies each: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176272"/>
            <a:ext cx="8631936" cy="38404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56032" y="2176272"/>
            <a:ext cx="8631936" cy="38404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2176272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217627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Viable Artefact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Financial Intelligence Engine prototype — implemented, tested, and deployed (Appendix B)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578608"/>
            <a:ext cx="8631936" cy="384048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256032" y="2578608"/>
            <a:ext cx="863193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" y="2578608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25786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2578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Problem Relevance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25786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Management Gap affects 99% of OECD businesses — established in §1.1 with EC, SBA, World Bank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980944"/>
            <a:ext cx="8631936" cy="384048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256032" y="2980944"/>
            <a:ext cx="8631936" cy="38404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2980944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298094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" y="29809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Rigorous Evaluation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60320" y="298094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Six empirical results in Chapter 5, benchmarked against human consultant baseline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383280"/>
            <a:ext cx="8631936" cy="384048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256032" y="3383280"/>
            <a:ext cx="863193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" y="3383280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" y="338328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" y="3383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Research Contribution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60320" y="33832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Integrated three-tier pattern + empirical proof of grounded synthesis (Ch. 6 — dual CS + BM contribution)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785616"/>
            <a:ext cx="8631936" cy="384048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256032" y="3785616"/>
            <a:ext cx="8631936" cy="38404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7" name="Shape 35"/>
          <p:cNvSpPr/>
          <p:nvPr/>
        </p:nvSpPr>
        <p:spPr>
          <a:xfrm>
            <a:off x="256032" y="3785616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" y="378561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Research Rigour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60320" y="378561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Three documented build-evaluate cycles; pytest suite at 70% coverage; controlled diagnostic quality test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187952"/>
            <a:ext cx="8631936" cy="384048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256032" y="4187952"/>
            <a:ext cx="863193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56032" y="4187952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" y="418795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Design as Search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60320" y="418795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Architecture is a constrained search: UFL category count, fuzzy threshold=75, temperature=0 — all calibrated empirically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590288"/>
            <a:ext cx="8631936" cy="384048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256032" y="4590288"/>
            <a:ext cx="8631936" cy="384048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49" name="Shape 47"/>
          <p:cNvSpPr/>
          <p:nvPr/>
        </p:nvSpPr>
        <p:spPr>
          <a:xfrm>
            <a:off x="256032" y="4590288"/>
            <a:ext cx="29260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" y="459028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" y="45902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Communication to Both Audiences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560320" y="45902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Technical (Chs. 3–4) for CS audience + managerial (RQ2, §6.5) for business audience — dual thesis structure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Proposed Solution: Three-Tier SaaP Architecture (§3.2)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Each tier handles a different cognitive operation. The separation is the key to reliability.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788920" cy="35204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2788920" cy="594360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1261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TIER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" y="14996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Agnostic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Ingestion 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20240"/>
            <a:ext cx="2606040" cy="256032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2024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← IN: Any CSV/JSON export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212848"/>
            <a:ext cx="2606040" cy="256032"/>
          </a:xfrm>
          <a:prstGeom prst="rect">
            <a:avLst/>
          </a:prstGeom>
          <a:solidFill>
            <a:srgbClr val="C8F5E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12848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</a:rPr>
              <a:t>→ OUT: Canonical DataFrame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578608"/>
            <a:ext cx="260604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Accepts any source format. No hardcoded schemas. Language-agnostic fuzzy matching identifies every column automatically.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63824" y="1261872"/>
            <a:ext cx="2788920" cy="35204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63824" y="1261872"/>
            <a:ext cx="27889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55264" y="12618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66744" y="1261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TIER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66744" y="14996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Logic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Synthesis Layer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55264" y="1920240"/>
            <a:ext cx="2606040" cy="256032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192024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← IN: Canonical DataFrame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55264" y="2212848"/>
            <a:ext cx="2606040" cy="256032"/>
          </a:xfrm>
          <a:prstGeom prst="rect">
            <a:avLst/>
          </a:prstGeom>
          <a:solidFill>
            <a:srgbClr val="C8F5E8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2212848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</a:rPr>
              <a:t>→ OUT: KPI Snapshot + Insights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55264" y="2578608"/>
            <a:ext cx="260604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Deterministic Python computes ALL numbers first. LLM only interprets — never generates. Hallucination is architecturally impossible.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1261872"/>
            <a:ext cx="2788920" cy="35204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1261872"/>
            <a:ext cx="27889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163056" y="12618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74536" y="1261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TIER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74536" y="14996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Presentation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Layer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1920240"/>
            <a:ext cx="2606040" cy="256032"/>
          </a:xfrm>
          <a:prstGeom prst="rect">
            <a:avLst/>
          </a:prstGeom>
          <a:solidFill>
            <a:srgbClr val="D1E8FF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192024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← IN: KPI Snapshot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63056" y="2212848"/>
            <a:ext cx="2606040" cy="256032"/>
          </a:xfrm>
          <a:prstGeom prst="rect">
            <a:avLst/>
          </a:prstGeom>
          <a:solidFill>
            <a:srgbClr val="C8F5E8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2212848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4E3B"/>
                </a:solidFill>
              </a:rPr>
              <a:t>→ OUT: Interactive Dashboard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63056" y="2578608"/>
            <a:ext cx="260604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Renders the payload verbatim. Never computes. Every figure the user sees originates in Tier 2, never in the browser.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4645152"/>
            <a:ext cx="8631936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464515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"The Presentation Layer never performs computation. Every figure it displays is taken from the payload verbatim."  — Thesis §3.7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1: Agnostic Ingestion + Universal Financial Language (§3.3–3.4)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system never sees the source schema — it discovers it. No engineering work per new client.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5047488" cy="365760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5047488" cy="310896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4864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Fuzzy Column Detection  (threshold = 75)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15727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transaction_date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93392" y="1664208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date · data · data_documentului · buchungsdatum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157984"/>
            <a:ext cx="15727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57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description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93392" y="2157984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description · memo · descriere · beschreibung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651760"/>
            <a:ext cx="15727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651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amount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93392" y="2651760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amount · suma · betrag · valoare · summe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45536"/>
            <a:ext cx="15727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14553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currency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93392" y="3145536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currency · moneda · währung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639312"/>
            <a:ext cx="157276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639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category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93392" y="3639312"/>
            <a:ext cx="3163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category · cont · categorie · konto · kategorie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224528"/>
            <a:ext cx="4828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rapidfuzz token-set-ratio · 'Buchungsdatum' → 'date' with no shared substring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261872"/>
            <a:ext cx="3401568" cy="365760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261872"/>
            <a:ext cx="3401568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261872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Universal Financial Language — 7 Categories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609344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Every raw account code, in any language, maps to one of these: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77840" y="1883664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88366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37376" y="1883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Venituri · Sales · Umsatz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304288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30428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Payroll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37376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Salarii · Payroll · Gehälter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77840" y="2724912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27249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Marketing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37376" y="27249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Publicitate · Advertising · Werbung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3145536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314553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Logistics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37376" y="31455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Transport · Shipping · Versand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77840" y="3566160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35661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Facilities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37376" y="35661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Chirie · Rent · Miete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986784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5577840" y="398678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Technology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37376" y="3986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Abonamente · Software · Abonnements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77840" y="4407408"/>
            <a:ext cx="80467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577840" y="44074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Other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37376" y="4407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Fallback — anything not matched above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77840" y="4663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7 categories calibrated by inspection of top account codes across 3 jurisdictions. New ERP = add dictionary entries.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Tier 2: Grounded Synthesis — The Anti-Hallucination Architecture (§3.5–3.6)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LLM is architecturally forbidden from generating numbers. Zero fabricated figures by construction.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261872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The key innovation: separate deterministic computation from semantic interpretation — the LLM only sees numbers it is not allowed to change.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627632"/>
            <a:ext cx="4206240" cy="292608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27632"/>
            <a:ext cx="4206240" cy="365760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627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1 — Deterministic Python (metrics.py)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06654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compute_kpis() is a pure function — same input, same output, always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51460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Computes: revenue, expenses, net profit, margin %, trend %, runway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96265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Monthly time series, expense concentration %, category distributions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4107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Serialised to JSON → becomes the LLM's only allowed data source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858768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Every figure the user ever sees originates HERE — never in the model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1627632"/>
            <a:ext cx="4206240" cy="292608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627632"/>
            <a:ext cx="42062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627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2 — Grounded LLM Synthesis (synthesis.py)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206654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Input: JSON KPI snapshot only — never the raw data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51460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GPT-4o · temperature = 0 (no randomness)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96265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response_format = json_object (no prose escape)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34107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RULE: 'You MUST NOT produce or invent any numbers'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73168" y="3858768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▸  Output: headline · diagnosis · risks · recommendations + horizon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4645152"/>
            <a:ext cx="8631936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464515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Result R6 (Chapter 5): across 100 consecutive synthesis runs — zero numeric hallucinations. Validated by automated comparison of model output vs deterministic ground truth.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 &amp; Data Flow (§4.1, §3.8)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Lowest-novelty mainstream options at every tier — chosen to minimise failure surface at the thesis defence.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663440" cy="35661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46634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804672" cy="512064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682496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Backend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1682496"/>
            <a:ext cx="3584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Python 3.12 · FastAPI · Pandas · Pydantic · rapidfuzz · OpenAI SDK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286000"/>
            <a:ext cx="804672" cy="512064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286000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07008" y="2286000"/>
            <a:ext cx="3584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Next.js 14 (App Router) · Tailwind CSS · Recharts · Lucide-React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889504"/>
            <a:ext cx="804672" cy="512064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88950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Infra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07008" y="2889504"/>
            <a:ext cx="3584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Cloudflare quick tunnel (cloudflared --url) · SERVE_FRONTEND=1 env gate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3493008"/>
            <a:ext cx="804672" cy="512064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493008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Testing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07008" y="3493008"/>
            <a:ext cx="3584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pytest · 70% line coverage · 6 smoke tests · controlled synthesis test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4096512"/>
            <a:ext cx="804672" cy="512064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4096512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Rationale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07008" y="4096512"/>
            <a:ext cx="3584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Single-process: deterministic + synthesis in same Python process. Snapshot-to-prompt contract easier to manage in one repo. Stateless: every request is independent, load-balanceable.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38928" y="1261872"/>
            <a:ext cx="3749040" cy="35661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38928" y="1261872"/>
            <a:ext cx="374904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7-Step Data Flow (§3.8)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30368" y="1682496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168249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16824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Customer uploads CSV or selects bundled sample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30368" y="2121408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368" y="21214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121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Ingestion Layer detects delimiter &amp; decimal convention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30368" y="2560320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5230368" y="25603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Fuzzy schema matching → canonical DataFrame produced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30368" y="2999232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5230368" y="299923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2999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Normalisation: FX conversion → EUR; raw labels → UFL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30368" y="3438144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5230368" y="34381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3438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Metrics Engine: compute_kpis() → KPI snapshot (pure, deterministic)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30368" y="3877056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3" name="Text 41"/>
          <p:cNvSpPr/>
          <p:nvPr/>
        </p:nvSpPr>
        <p:spPr>
          <a:xfrm>
            <a:off x="5230368" y="387705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877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Synthesis: snapshot JSON → GPT-4o → structured insights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30368" y="4315968"/>
            <a:ext cx="292608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6" name="Text 44"/>
          <p:cNvSpPr/>
          <p:nvPr/>
        </p:nvSpPr>
        <p:spPr>
          <a:xfrm>
            <a:off x="5230368" y="431596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77840" y="4315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Dashboard renders payload verbatim — no front-end computation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Pipeline is end-to-end stateless — any model upgrade affects only Step 6, leaving all other steps unchanged.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Strategy (§4.8)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Six pytest tests, 70% line coverage, under five seconds on a laptop — and one architecturally critical contract test.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347472" cy="1133856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3167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test_ingestion_detects_required_columns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5727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Each of the three bundled sample files (RO/SAGA, US/QB, DE/DATEV) must be ingestible without manual configuration.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2157984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R1: 100% column detection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90872" y="1261872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261872"/>
            <a:ext cx="347472" cy="1133856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261872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93208" y="13167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test_ingestion_handles_semicolon_decimal_comma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93208" y="15727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Semicolon-decimal-comma convention (Romanian/German exports) must round-trip correctly to positive amounts after sign normalisation.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93208" y="2157984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5148072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Validates _parse_amount()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2468880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468880"/>
            <a:ext cx="347472" cy="11338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2468880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2523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test_fx_triangulation_via_eur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FX triangulation through EUR must produce reasonable cross-rates for RON/USD and USD/EUR pairs.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3364992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3649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R3: 3 currencies unified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90872" y="2468880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2468880"/>
            <a:ext cx="347472" cy="11338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2468880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93208" y="2523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test_ufl_mapping_handles_languages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93208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UFL mapping must collapse semantically equivalent labels across the three supported languages (RO/EN/DE) to the same canonical category.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93208" y="3364992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5148072" y="33649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Validates map_to_ufl()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3675888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675888"/>
            <a:ext cx="347472" cy="11338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" y="3675888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3730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test_end_to_end_pipeline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39867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 end-to-end run from file to KPIs must conserve transaction volume to within rounding — rows in equals rows out.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" y="4572000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4572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R2: 100% row retention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90872" y="3675888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3675888"/>
            <a:ext cx="347472" cy="11338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4690872" y="3675888"/>
            <a:ext cx="347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93208" y="37307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test_no_numeric_hallucination_in_synthesis_payload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93208" y="39867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The synthesis payload contract must satisfy: net_profit = revenue − expenses within rounding tolerance. This is the hallucination-mitigation property expressed as a unit test.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93208" y="4572000"/>
            <a:ext cx="3749040" cy="1828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7" name="Text 45"/>
          <p:cNvSpPr/>
          <p:nvPr/>
        </p:nvSpPr>
        <p:spPr>
          <a:xfrm>
            <a:off x="5148072" y="4572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5F46"/>
                </a:solidFill>
              </a:rPr>
              <a:t>→ R6: 0/100 hallucination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Suite runs in &lt; 5 seconds on a development laptop. The live OpenAI call is tested manually — its contract is verified by T6.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Empirical Validation — Six Results (Chapter 5)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Each result answers a specific design objective. Validated against three synthetic but realistic datasets.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2788920" cy="512064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2618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65376" y="1261872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column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82880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All 5 canonical fields detected across all 3 jurisdictions. 'Buchungsdatum' → date. 'Descriere' → description. Zero per-source engineering.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63824" y="1261872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261872"/>
            <a:ext cx="2788920" cy="512064"/>
          </a:xfrm>
          <a:prstGeom prst="rect">
            <a:avLst/>
          </a:prstGeom>
          <a:solidFill>
            <a:srgbClr val="3A6EC4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2618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2618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73168" y="1261872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row 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55264" y="182880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24/22/21 rows in, 24/22/21 out. Adaptive date parsing rescued the US QuickBooks file (M/D/Y format).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261872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261872"/>
            <a:ext cx="278892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618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12618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3→1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680960" y="1261872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currencies unified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3056" y="182880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RO: €53,265 rev/€26,421 exp  ·  US: €99,360/€43,028  ·  DE: €108,900/€57,530. Same engine, no per-source code.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980944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80944"/>
            <a:ext cx="2788920" cy="5120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" y="2980944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29809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450×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65376" y="2980944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efficiency gain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354787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Human consultant: ~5 hours. SaaP engine: ~40 seconds. Headline managerial result. (See next slide for breakdown.)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63824" y="2980944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63824" y="2980944"/>
            <a:ext cx="2788920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218688" y="2980944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29809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≈ CA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773168" y="2980944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diagnostic quality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55264" y="354787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Controlled test: same dataset, same instructions, one chartered accountant vs engine. Risk categories overlap in order of magnitude.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71616" y="2980944"/>
            <a:ext cx="2788920" cy="164592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2980944"/>
            <a:ext cx="278892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980944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R6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73952" y="29809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0/100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680960" y="2980944"/>
            <a:ext cx="1124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hallucination rate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63056" y="354787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Zero numeric hallucinations across 100 consecutive runs. Every figure the model cited matched the deterministic payload.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 4: The 450× Efficiency Gain (§5.5)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A single engineering team can deliver what a 1,000-consultant firm delivers — at the cost of an API call.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0116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12618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67712" y="1261872"/>
            <a:ext cx="18288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322576" y="12618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Human Consultant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96512" y="1261872"/>
            <a:ext cx="17373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26187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SaaP 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33872" y="1261872"/>
            <a:ext cx="11887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888736" y="126187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Ratio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1645920"/>
            <a:ext cx="201168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6459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67712" y="1645920"/>
            <a:ext cx="182880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2340864" y="1645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120–180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96512" y="1645920"/>
            <a:ext cx="173736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4169664" y="16459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&lt; 5 sec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33872" y="1645920"/>
            <a:ext cx="118872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5907024" y="16459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~2,000×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" y="2231136"/>
            <a:ext cx="2011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22311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Categorical mapping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67712" y="2231136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340864" y="22311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30–60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96512" y="2231136"/>
            <a:ext cx="1737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69664" y="223113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&lt; 1 sec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33872" y="2231136"/>
            <a:ext cx="1188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07024" y="223113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~3,000×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6032" y="2816352"/>
            <a:ext cx="201168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281635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Trend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67712" y="2816352"/>
            <a:ext cx="182880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3" name="Text 31"/>
          <p:cNvSpPr/>
          <p:nvPr/>
        </p:nvSpPr>
        <p:spPr>
          <a:xfrm>
            <a:off x="2340864" y="28163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60–120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96512" y="2816352"/>
            <a:ext cx="173736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5" name="Text 33"/>
          <p:cNvSpPr/>
          <p:nvPr/>
        </p:nvSpPr>
        <p:spPr>
          <a:xfrm>
            <a:off x="4169664" y="281635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&lt; 2 sec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33872" y="2816352"/>
            <a:ext cx="1188720" cy="53035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37" name="Text 35"/>
          <p:cNvSpPr/>
          <p:nvPr/>
        </p:nvSpPr>
        <p:spPr>
          <a:xfrm>
            <a:off x="5907024" y="281635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~3,000×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56032" y="3401568"/>
            <a:ext cx="2011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" y="34015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Insight writing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67712" y="3401568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340864" y="34015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45–60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96512" y="3401568"/>
            <a:ext cx="1737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169664" y="340156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10–30 sec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33872" y="3401568"/>
            <a:ext cx="1188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907024" y="340156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~150×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6032" y="3986784"/>
            <a:ext cx="201168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" y="39867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67712" y="3986784"/>
            <a:ext cx="18288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2340864" y="398678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~5 hours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96512" y="3986784"/>
            <a:ext cx="17373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4169664" y="398678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~40 sec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33872" y="3986784"/>
            <a:ext cx="118872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5907024" y="398678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~450×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150608" y="1261872"/>
            <a:ext cx="1737360" cy="35478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50608" y="15727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450×</a:t>
            </a:r>
            <a:endParaRPr lang="en-US" sz="4400" dirty="0"/>
          </a:p>
        </p:txBody>
      </p:sp>
      <p:sp>
        <p:nvSpPr>
          <p:cNvPr id="56" name="Text 54"/>
          <p:cNvSpPr/>
          <p:nvPr/>
        </p:nvSpPr>
        <p:spPr>
          <a:xfrm>
            <a:off x="7205472" y="2377440"/>
            <a:ext cx="1609344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 single engineering team operating the SaaP engine can deliver, on a per-business-per-month cadence, the equivalent of what a one-thousand-consultant firm can deliver on a per-business-per-quarter cadence.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At €50/month per business, gross margins approach 100% on the variable cost line.  — Thesis §6.5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Discussion: Theoretical &amp; Practical Contribution (§6.1–6.2)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contribution sits at the intersection of three literature streams — and provides an engineering blueprint.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24528" cy="32918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422452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Theoretical Contribution (§6.1)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00784"/>
            <a:ext cx="987552" cy="56692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700784"/>
            <a:ext cx="9875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From DSR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89888" y="170078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Artefact satisfies all 7 Hevner et al. guidelines — viable, relevant, rigorous, contributing, rigorous methods, search framing, dual communication.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404872"/>
            <a:ext cx="987552" cy="56692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404872"/>
            <a:ext cx="9875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From Productisation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89888" y="24048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Empirical evidence, hitherto absent in the literature, that high-judgement professional services can be productised through software at meaningful quality.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108960"/>
            <a:ext cx="987552" cy="56692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108960"/>
            <a:ext cx="9875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From Grounded Synthesis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89888" y="31089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Worked example of the architectural pattern that eliminates numeric hallucination by construction — in a domain where fabricated facts are catastrophic.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3813048"/>
            <a:ext cx="987552" cy="56692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813048"/>
            <a:ext cx="9875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The Integration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89888" y="38130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None of the three streams alone addresses the problem. The integrated three-tier pattern + empirical proof is the contribution the literature was missing.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4224528" cy="329184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61872"/>
            <a:ext cx="4224528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26187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Practical Contribution (§6.2)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700784"/>
            <a:ext cx="2926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700784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1700784"/>
            <a:ext cx="3712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Documented reference architecture — jurisdiction-neutral by design: synonym dict + UFL + FX table all extensible without code changes.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404872"/>
            <a:ext cx="2926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404872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2404872"/>
            <a:ext cx="3712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Working prototype implementation (Appendix B) — startup or firm can fork and ship.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2926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108960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3108960"/>
            <a:ext cx="3712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Tested integration pattern — deterministic computation + grounded LLM synthesis + measured baseline.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813048"/>
            <a:ext cx="2926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813048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02352" y="3813048"/>
            <a:ext cx="3712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Three-tier pattern transfers beyond finance: healthcare, legal compliance, supply-chain analytics — any domain where fabricated facts are unacceptable.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" y="4645152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CS contribution: factually reliable + qualitatively rich — a combination unavailable to either rule-based expert systems or unconstrained generative AI.  |  BM contribution: expert services that resist productisation CAN be mechanised when underlying cognitive operations are decomposed into computable stages.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Discussion: Business Model Implications &amp; Ethics (§6.4–6.5)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Near-zero marginal cost changes the economics of advisory — and creates regulatory responsibilities.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5047488" cy="33375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5047488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4864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SaaP Business Model Implications (§6.5)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682496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Consulting price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99616" y="16824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€100–400/hr → engagement total: thousands of euros per review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157984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57984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SaaP marginal cost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99616" y="21579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One GPT-4o synthesis call ≈ cents + tiny share of fixed infra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633472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633472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Price point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99616" y="26334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€50/month per SME → gross margins approach 100% on the variable 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108960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Competitive axis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99616" y="3108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Not price-per-hour but availability + consistency: engine runs at 3 AM when data refreshes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584448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584448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Market expansion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99616" y="35844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Not displacement of consultants — BROADENING. Businesses that never could afford consulting become addressable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4059936"/>
            <a:ext cx="1097280" cy="402336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4059936"/>
            <a:ext cx="10972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</a:rPr>
              <a:t>Scale mechanics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99616" y="40599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One engineering team → per-business-per-month cadence equivalent to 1,000-consultant firm per-business-per-quarter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0" y="1261872"/>
            <a:ext cx="3401568" cy="3337560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261872"/>
            <a:ext cx="3401568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126187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Ethical &amp; Regulatory Considerations (§6.4)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168249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GDPR / EU AI 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1956816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Article 22 GDPR (automated decision-making) + AI Act high-risk provisions + financial advisory directives — jurisdiction-dependent, legal review required per target market.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265176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Authority &amp; Transparency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2926080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Model outputs carry social authority of professional advice. Zero numeric hallucination is an ETHICAL commitment as well as a technical one — every figure is user-verifiable.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3621024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Remaining Risk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3895344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Semantic hallucination, platitudinous output when data is weak — not eliminated, only bounded. Production UI must make explicit: decision-support tool, not substitute for regulated advice.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Future Work (§6.3, §7.2)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Honest assessment — acknowledged in Chapter 6. Limitations point directly to the research roadmap.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128016" cy="3310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Limitations (§6.3)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Synthetic data only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7922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Datasets constructed by the author. Production data will surface corrupted rows, duplicate transactions, multi-currency within a single file. Anonymised real exports needed.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671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Single-pair quality 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3865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Diagnostic quality comparison used one chartered accountant and one engine. A panel with structured rubric is required for a conclusive claim.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7614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Estimated consultant baseline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The 450× figure is grounded in practitioner surveys, not a controlled experiment. It is an order-of-magnitude estimate, not a precise multiplier.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558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Small scale, no concurrency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5753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Validated at tens of rows, single-shot synthesis. Production needs high-throughput ingestion, concurrent synthesis, large time-series rendering.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39502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Semantic hallucination persists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41696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Architecture eliminates NUMERIC hallucination only. Platitudinous or misdirected recommendations remain bounded but not eliminated by temperature-zero + schema constraints.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261872"/>
            <a:ext cx="128016" cy="33101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Future Work (§7.2)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82896" y="1572768"/>
            <a:ext cx="65836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15727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96128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Vertical data model expansion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82896" y="1865376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Add receivables, payables, inventory, headcount. Closes the gap with the chartered accountant's receivables observation (R5).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82896" y="2322576"/>
            <a:ext cx="65836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23225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96128" y="2322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Predictive synthesis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82896" y="2615184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Prophet/Auto-ARIMA forecasts as additional payload fields. Same architecture: deterministic model produces numbers, LLM interprets.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82896" y="3072384"/>
            <a:ext cx="65836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3072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96128" y="30723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Multi-tenant production deployment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82896" y="3364992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Auth, authorisation, data isolation. No architectural change required — the three-tier pattern already supports it.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82896" y="3822192"/>
            <a:ext cx="65836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 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6128" y="3822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Vertical generalisation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82896" y="4114800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Healthcare, legal compliance, supply-chain analytics — any domain where fabricated facts are unacceptable. Identify which domain features predict success.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Live Demo — See the Pipeline in 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Open the public URL. No install. Switch sources. Watch the same architecture handle three languages.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61872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Open the public link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6642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Cloudflare tunnel — works in any browser globally. Shows the three-tier pipeline serving a live dashboard.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1261872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261872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1261872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9512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Select Romania / SAGA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9512" y="16642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Dropdown → 'Romania · SAGA (RON)'. Engine processes ro_saga_export.csv. KPI cards show €53,265 revenue, €26,421 expenses, 50.4% margin.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468880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468880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4672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Read the ingestion audit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87121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Click 'Ingestion Audit' — shows which source column mapped to which canonical field. This is R1 made visible.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468880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468880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2468880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39512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Switch to Germany / DATEV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9512" y="287121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Same dashboard, different data. €108,900 revenue, 47.2% margin. Zero engineering change — the fuzzy matcher handles German column names.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675888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75888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" y="3675888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0467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Read the AI CFO Insights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407822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Headline → diagnosis → risks → recommendations each with a time horizon. Every number the LLM quotes came from metrics.py — R6 in action.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3675888"/>
            <a:ext cx="4224528" cy="1133856"/>
          </a:xfrm>
          <a:prstGeom prst="rect">
            <a:avLst/>
          </a:prstGeom>
          <a:solidFill>
            <a:srgbClr val="EEF3F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3675888"/>
            <a:ext cx="475488" cy="11338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690872" y="3675888"/>
            <a:ext cx="475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23951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Open /docs (API docs)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9512" y="407822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GET /dashboard/sample → Try it out → Execute. Show the full JSON: ingestion metadata + KPI snapshot + structured AI insights.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4 endpoints: GET /health  ·  POST /ingest  ·  GET /dashboard/sample?source=  ·  POST /analyze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Architecting a Global SaaP Framework  ·  Bethel Hailemichael  ·  Romania American University  ·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RQ1 answered: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0241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Fuzzy schema matching + UFL + grounded synthesis eliminates the technical barriers and makes numeric hallucination architecturally impossible.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42646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RQ2 answered: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450× efficiency gain over human consultant baseline. Marginal cost = one API call. Expert-quality strategic advice accessible to every SME.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066544"/>
            <a:ext cx="84124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157984"/>
            <a:ext cx="128016" cy="32918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5798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The integrated three-tier architecture is simultaneously scalable, factually reliable, and substantively useful.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596896"/>
            <a:ext cx="128016" cy="32918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9689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 category of service historically priced at €100–400/hour can be delivered at the cost of an API call.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035808"/>
            <a:ext cx="128016" cy="32918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03580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Expert services that resist productisation can be mechanised when cognitive operations are decomposed into discrete computable stages.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520440"/>
            <a:ext cx="8412480" cy="658368"/>
          </a:xfrm>
          <a:prstGeom prst="rect">
            <a:avLst/>
          </a:prstGeom>
          <a:solidFill>
            <a:srgbClr val="24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4787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"The combination of agnostic data infrastructure, deterministic scaffolding, and constrained generative synthesis defines a new class of business: one that delivers expert-level results at unit economics that have historically been impossible."  — Thesis §7.3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29768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Author: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4297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Bethel Hailemichael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45171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Advisor: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" y="45171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Prof. Baraca Claudiu Dan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4736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Program: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7365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MSc CS / Business Mgmt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4956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Uni: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" y="4956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Romania American Univ.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53712" y="429768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Year: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58384" y="4297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June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53712" y="45171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Dashboard: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58384" y="45171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[Public tunnel URL]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53712" y="4736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API: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58384" y="47365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[Tunnel URL] / docs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Questions welcome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PRESENTER TALKING POINTS  — personal notes, do not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" y="56692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5669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1–2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9536" y="566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Title &amp; Agenda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719072" y="56692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Open with: 'I built a system that replaces 5 hours of CFO work with 40 seconds of automated pipeline — across three countries and three languages.'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4124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841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9536" y="8412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Background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19072" y="84124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Cite the 99% OECD stat — it grounds the problem in scale. The asymmetry framing (transactional tools commoditized, strategic tools stuck behind a human wall) sets up the entire thesis.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" y="111556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1155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59536" y="1115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719072" y="111556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THREE barriers, SME's perspective: can't afford expert (B1), SAP is for corporations not startups (B2), QuickBooks tells you WHAT happened but not what to DO (B3).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" y="138988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1389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5–6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59536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Objectives &amp; RQs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19072" y="138988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O1–O5 map to Ch. 3–4, R1, R6, R4, Ch. 6. RQ1 is solved by Tiers 1+2. RQ2 is solved by the 450× result. Both answered empirically in Chapter 5.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" y="166420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16642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9536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SaaP vs SaaS vs Consulting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19072" y="166420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'The product is not the engine. The product is the report the engine produces.' SaaS still needs a financially literate user to interpret. SaaP delivers the interpretation.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" y="193852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1938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8–9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9536" y="1938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Literature Review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719072" y="193852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If asked: 'I chose ICL over fine-tuning because the cognitive operation is application of wide BM knowledge to specific numbers — not a repetitive template task.' DSR distinguished from behavioural science here too.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" y="221284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2212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9536" y="2212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DSR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719072" y="221284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If asked about methodology: 'DSR means the contribution IS the artefact — not a survey, not a hypothesis test. Hevner et al. 2004, seven guidelines, all satisfied.' Walk down the right column.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" y="248716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24871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11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59536" y="24871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719072" y="248716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THREE tiers, NOT four. Key word: SEPARATION. Tier 2 has two sub-stages but they are one architectural tier. The wall between deterministic and synthesis is everything.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" y="276148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2761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12–13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59536" y="27614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Tiers 1 &amp; 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19072" y="276148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'Buchungsdatum' → 'date' with no shared substrings — alias dictionary + rapidfuzz token-set handles it. The SYSTEM_PROMPT rule 'You MUST NOT produce or invent any numbers' is your strongest technical claim. R6 validates it: 0/100.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864" y="303580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" y="3035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14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9536" y="30358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Tech Stack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719072" y="303580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Single-process choice: snapshot-to-prompt contract is a tight coupling. Stateless pipeline means horizontal scaling is trivial in production.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864" y="331012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" y="3310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15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59536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Testing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719072" y="331012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T6 is architecturally critical — it tests the hallucination-mitigation property as a contract. Every other test is a smoke test for pipeline correctness.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864" y="358444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3584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16–17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59536" y="3584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Results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719072" y="358444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R4 and R6 are the headline findings. R3 shows the real EUR numbers — use these in the demo. If challenged on 450×: 'Order-of-magnitude estimate, acknowledged in §6.3. Structural claim holds even at 100×.'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" y="385876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" y="3858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Slides 18–19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59536" y="3858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Discussion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19072" y="385876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Dual contribution: CS (factually reliable + qualitatively rich) + BM (expert services can be productised). Business model implication: €50/month → near-100% gross margin on variable line.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864" y="413308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57" name="Text 55"/>
          <p:cNvSpPr/>
          <p:nvPr/>
        </p:nvSpPr>
        <p:spPr>
          <a:xfrm>
            <a:off x="91440" y="41330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20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59536" y="4133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Limits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719072" y="413308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Be confident about limitations — they show intellectual honesty. Limitations §6.3 directly map to Future Work §7.2. The receivables gap (R5) identifies exactly what to build next.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864" y="4407408"/>
            <a:ext cx="903427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" y="44074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21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59536" y="4407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Demo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719072" y="440740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Open public URL first. Switch Romania → Germany to show agnostic pipeline live. End with /docs → Try it out. Show the structured JSON payload — this proves the architecture.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" y="4681728"/>
            <a:ext cx="9034272" cy="256032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Slide 22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59536" y="4681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Conclusion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719072" y="4681728"/>
            <a:ext cx="7260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Close with: 'We answered both research questions with empirical evidence. The Management Gap is an engineering problem. We have demonstrated one working solution.'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1440" y="4974336"/>
            <a:ext cx="896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Presenter notes only — not for projection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Architecting a Global SaaP Framework</dc:title>
  <dc:subject>PptxGenJS Presentation</dc:subject>
  <dc:creator>Bethel Hailemichael</dc:creator>
  <cp:lastModifiedBy>Bethel Hailemichael</cp:lastModifiedBy>
  <cp:revision>1</cp:revision>
  <dcterms:created xsi:type="dcterms:W3CDTF">2026-06-03T16:43:49Z</dcterms:created>
  <dcterms:modified xsi:type="dcterms:W3CDTF">2026-06-03T16:43:49Z</dcterms:modified>
</cp:coreProperties>
</file>